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207dea787f47eb" /><Relationship Type="http://schemas.openxmlformats.org/officeDocument/2006/relationships/extended-properties" Target="/docProps/app.xml" Id="Rf06a26b022554b67" /><Relationship Type="http://schemas.openxmlformats.org/officeDocument/2006/relationships/officeDocument" Target="/ppt/presentation.xml" Id="R2f9a5a6f66794c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3313d564854f7f"/>
  </p:sldMasterIdLst>
  <p:notesMasterIdLst>
    <p:notesMasterId xmlns:r="http://schemas.openxmlformats.org/officeDocument/2006/relationships" r:id="R79b268f4692b454f"/>
  </p:notesMasterIdLst>
  <p:sldIdLst>
    <p:sldId xmlns:r="http://schemas.openxmlformats.org/officeDocument/2006/relationships" id="256" r:id="Raa393b142b794861"/>
    <p:sldId xmlns:r="http://schemas.openxmlformats.org/officeDocument/2006/relationships" id="257" r:id="R32364e9c4ed8404e"/>
    <p:sldId xmlns:r="http://schemas.openxmlformats.org/officeDocument/2006/relationships" id="258" r:id="R44235a04a965419c"/>
    <p:sldId xmlns:r="http://schemas.openxmlformats.org/officeDocument/2006/relationships" id="259" r:id="Re6abd2dd5d2d43a3"/>
    <p:sldId xmlns:r="http://schemas.openxmlformats.org/officeDocument/2006/relationships" id="260" r:id="R361eda6796144e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313d564854f7f" /><Relationship Type="http://schemas.openxmlformats.org/officeDocument/2006/relationships/theme" Target="/ppt/theme/theme1.xml" Id="Rd655ff13f3ea4cff" /><Relationship Type="http://schemas.openxmlformats.org/officeDocument/2006/relationships/notesMaster" Target="/ppt/notesMasters/notesMaster1.xml" Id="R79b268f4692b454f" /><Relationship Type="http://schemas.openxmlformats.org/officeDocument/2006/relationships/presProps" Target="/ppt/presProps.xml" Id="Rd08b95279fe641ee" /><Relationship Type="http://schemas.openxmlformats.org/officeDocument/2006/relationships/viewProps" Target="/ppt/viewProps.xml" Id="Raace2ab4464b4679" /><Relationship Type="http://schemas.openxmlformats.org/officeDocument/2006/relationships/tableStyles" Target="/ppt/tableStyles.xml" Id="R4b64a3b49d744d2d" /><Relationship Type="http://schemas.openxmlformats.org/officeDocument/2006/relationships/slide" Target="/ppt/slides/slide1.xml" Id="Raa393b142b794861" /><Relationship Type="http://schemas.openxmlformats.org/officeDocument/2006/relationships/slide" Target="/ppt/slides/slide2.xml" Id="R32364e9c4ed8404e" /><Relationship Type="http://schemas.openxmlformats.org/officeDocument/2006/relationships/slide" Target="/ppt/slides/slide3.xml" Id="R44235a04a965419c" /><Relationship Type="http://schemas.openxmlformats.org/officeDocument/2006/relationships/slide" Target="/ppt/slides/slide4.xml" Id="Re6abd2dd5d2d43a3" /><Relationship Type="http://schemas.openxmlformats.org/officeDocument/2006/relationships/slide" Target="/ppt/slides/slide5.xml" Id="R361eda6796144e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328a26069b44a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afe Kindness">
  <a:themeElements>
    <a:clrScheme name="Cafe Kindness">
      <a:accent1>
        <a:srgbClr val="7EA58A"/>
      </a:accent1>
      <a:accent2>
        <a:srgbClr val="D9824B"/>
      </a:accent2>
      <a:accent3>
        <a:srgbClr val="F2C79E"/>
      </a:accent3>
      <a:accent4>
        <a:srgbClr val="315745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fe Kindnes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87e72eeccd4b27" /><Relationship Type="http://schemas.openxmlformats.org/officeDocument/2006/relationships/notesMaster" Target="/ppt/notesMasters/notesMaster1.xml" Id="Rbb7c8163d8f448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1e78bc0c084b90" /><Relationship Type="http://schemas.openxmlformats.org/officeDocument/2006/relationships/notesMaster" Target="/ppt/notesMasters/notesMaster1.xml" Id="R7f2ebe3c072142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a95c63cee84980" /><Relationship Type="http://schemas.openxmlformats.org/officeDocument/2006/relationships/notesMaster" Target="/ppt/notesMasters/notesMaster1.xml" Id="R26221a271ea94f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69e63864ba4140" /><Relationship Type="http://schemas.openxmlformats.org/officeDocument/2006/relationships/notesMaster" Target="/ppt/notesMasters/notesMaster1.xml" Id="Rb769aac6eca340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f02ac6b7294a11" /><Relationship Type="http://schemas.openxmlformats.org/officeDocument/2006/relationships/notesMaster" Target="/ppt/notesMasters/notesMaster1.xml" Id="R29bf3986055848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日本は人口減少や単身化が進み、人と関わる機会そのものが減っています。つながりの量だけでなく、気持ちを伝える場も小さくなっていることに注目しました。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ありがとうと思っても、わざわざ言うのは照れくさい。知らない人に話しかけるのは心理的に重い。感謝がないのではなく、表現するハードルが高いのだと考えました。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静かにしてくれて助かった、席を譲ってくれてありがたかった、店内の雰囲気が心地よかった。そういう気持ちはあるのに、多くの場合、そのまま消えてしまいます。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カフェなどの空間に対して、ワンタップでありがとう、居心地いい、静かで助かった、を残します。誰か個人に直接言わなくても、空間を通じて気持ちが届く体験です。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格を無理に変えなくていい。話しかけなくてもいい。でも感謝や好意が見えることで、空間は少しあたたかくなります。人は冷たいのではない。優しさを出す方法がないだけだ、というメッセージで締め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2a6e9eba5481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DB5CC04-81F2-4B57-A00C-21221C29381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27749A9-CA6F-4FBD-BD8A-01AD7C19B54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ACC85F-2A99-4511-8278-C645D55656B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903419-10DF-4D3C-8170-64485300DBD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CD36AE-2DA2-448C-82A5-3E3CE1E41F8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8cee78ef9664f0b" /><Relationship Type="http://schemas.openxmlformats.org/officeDocument/2006/relationships/slideLayout" Target="/ppt/slideLayouts/slideLayout2.xml" Id="R5bbeb963e1a74c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018FCE-904E-46B5-AE67-82AE4BCB370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beb963e1a74c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22dab4b896470e" /><Relationship Type="http://schemas.openxmlformats.org/officeDocument/2006/relationships/notesSlide" Target="/ppt/notesSlides/notesSlide1.xml" Id="R89679bf1f27e40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85e3fede304242" /><Relationship Type="http://schemas.openxmlformats.org/officeDocument/2006/relationships/notesSlide" Target="/ppt/notesSlides/notesSlide2.xml" Id="Rd6b4c16da5d34b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95ffb7697d4c9c" /><Relationship Type="http://schemas.openxmlformats.org/officeDocument/2006/relationships/notesSlide" Target="/ppt/notesSlides/notesSlide3.xml" Id="Rb0322b1a935d46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c4bb222d954967" /><Relationship Type="http://schemas.openxmlformats.org/officeDocument/2006/relationships/notesSlide" Target="/ppt/notesSlides/notesSlide4.xml" Id="R254f7f1e66474a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4d3c5289bc4557" /><Relationship Type="http://schemas.openxmlformats.org/officeDocument/2006/relationships/notesSlide" Target="/ppt/notesSlides/notesSlide5.xml" Id="R377f5f77efdb4a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CD36AE-2DA2-448C-82A5-3E3CE1E41F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D8B0C-10D2-4275-B3F5-21C742D4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09EA6-32A1-44B8-8A6C-DCFD0AAC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-171450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F4E48-B1AC-45CB-8547-2F93049C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F9DC8-8DE5-4D6A-ACE7-08C59697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3810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58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237C0-95E1-4303-8F81-A652DA7D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745"/>
                </a:solidFill>
              </a:defRPr>
            </a:pPr>
            <a:r>
              <a:rPr sz="1500" b="1">
                <a:solidFill>
                  <a:srgbClr val="315745"/>
                </a:solidFill>
              </a:rPr>
              <a:t>01 / 小さくなる日本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996A3-3DA6-4C22-BD19-B1495E5F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3400"/>
            <a:ext cx="857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8A198"/>
                </a:solidFill>
              </a:defRPr>
            </a:pPr>
            <a:r>
              <a:rPr sz="1950" b="1">
                <a:solidFill>
                  <a:srgbClr val="A8A19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8CAD3-FD62-49BE-AC98-D369628C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619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B8F0D-3521-4D8B-A4E3-FF2091D8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62150"/>
            <a:ext cx="43815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647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42F75-EA29-4525-82D3-97F41E61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00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08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9AFD1-B118-40B7-BEDC-BA5746C3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704850" cy="8191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0ECE1"/>
          </a:solidFill>
          <a:ln xmlns:a="http://schemas.openxmlformats.org/drawingml/2006/main" w="9525">
            <a:solidFill>
              <a:srgbClr val="C7D9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3C976-0284-4035-A246-22A745AF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90800"/>
            <a:ext cx="17145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AF85B-34EB-43E9-BE08-1FC26189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17145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3F55B-24F8-4B86-8513-E7F2F1B0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989" y="2324100"/>
            <a:ext cx="296799" cy="3280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A075A-9F07-4556-9444-3CC3CDC2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747" y="2261616"/>
            <a:ext cx="359283" cy="187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5AA61-9BF3-42C0-9C43-E5C41AC6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526" y="2620899"/>
            <a:ext cx="93726" cy="93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08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F607B-1DEF-436F-981C-2C03D788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3383"/>
            <a:ext cx="577977" cy="671703"/>
          </a:xfrm>
          <a:prstGeom xmlns:a="http://schemas.openxmlformats.org/drawingml/2006/main" prst="roundRect">
            <a:avLst>
              <a:gd name="adj" fmla="val 13184"/>
            </a:avLst>
          </a:prstGeom>
          <a:solidFill xmlns:a="http://schemas.openxmlformats.org/drawingml/2006/main">
            <a:srgbClr val="F4DAC0"/>
          </a:solidFill>
          <a:ln xmlns:a="http://schemas.openxmlformats.org/drawingml/2006/main" w="9525">
            <a:solidFill>
              <a:srgbClr val="EBC9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E5A5F-3739-4FCC-898B-30889393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916" y="2777109"/>
            <a:ext cx="140589" cy="42176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093A7-A863-40D7-B5BA-82C3F2C2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272" y="2777109"/>
            <a:ext cx="140589" cy="42176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28118-3005-47FE-BA2F-DC09E196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028" y="2609850"/>
            <a:ext cx="231648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98867-6FCD-4639-AE88-618A6378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644" y="2561082"/>
            <a:ext cx="280416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647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82201-0D79-4D54-8F4F-7AC3CCA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276" y="284149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08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50131-E7E9-4041-B31C-C8EDFD4A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0266"/>
            <a:ext cx="451104" cy="524256"/>
          </a:xfrm>
          <a:prstGeom xmlns:a="http://schemas.openxmlformats.org/drawingml/2006/main" prst="roundRect">
            <a:avLst>
              <a:gd name="adj" fmla="val 16892"/>
            </a:avLst>
          </a:prstGeom>
          <a:solidFill xmlns:a="http://schemas.openxmlformats.org/drawingml/2006/main">
            <a:srgbClr val="E9E5DB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6CD52-AB60-4B30-9FF2-1E29C246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532" y="2963418"/>
            <a:ext cx="109728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1C868-218D-41DF-BEAF-46629AAF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444" y="2963418"/>
            <a:ext cx="109728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B79DF-844F-466D-809A-F09B6E3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8B3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95218-7120-4D29-B7B6-70656580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8C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9DD330-C767-49A7-9E83-D951888A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7D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E64957-E61B-4B63-8369-0FD7AFE1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CC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08CE58-8B45-41AE-AE66-CAB22899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AF49FA-22CE-48E3-B425-C494116D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383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745"/>
                </a:solidFill>
              </a:defRPr>
            </a:pPr>
            <a:r>
              <a:rPr sz="1350" b="1">
                <a:solidFill>
                  <a:srgbClr val="315745"/>
                </a:solidFill>
              </a:rPr>
              <a:t>つながりの縮小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321AF0-F09D-46CF-827F-BB2F3FBA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8750"/>
            <a:ext cx="619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人口だけでなく、</a:t>
            </a:r>
          </a:p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人とのつながりも</a:t>
            </a:r>
          </a:p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小さくなっている。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B46F4F-4295-4E01-802A-FE2C41F3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561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15E348-3F90-425E-A667-8EB579AF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58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96AD10-E062-4DA5-A503-422F7953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69"/>
                </a:solidFill>
              </a:defRPr>
            </a:pPr>
            <a:r>
              <a:rPr sz="1350" b="1">
                <a:solidFill>
                  <a:srgbClr val="667069"/>
                </a:solidFill>
              </a:rPr>
              <a:t>・ 人口減少と単身化が進んでいる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3D7D9B-2A30-4C39-95A3-A20378A3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</a:defRPr>
            </a:pPr>
            <a:r>
              <a:rPr sz="1350" b="0">
                <a:solidFill>
                  <a:srgbClr val="667069"/>
                </a:solidFill>
              </a:rPr>
              <a:t>・ 人と関わる機会も、気持ちを伝える場も減っている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BC94C1-D460-419E-AA3B-34B1B05F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</a:defRPr>
            </a:pPr>
            <a:r>
              <a:rPr sz="1350" b="0">
                <a:solidFill>
                  <a:srgbClr val="667069"/>
                </a:solidFill>
              </a:rPr>
              <a:t>・ 数字だけでなく、つながりの質も縮んでいる</a:t>
            </a:r>
          </a:p>
        </p:txBody>
      </p:sp>
    </p:spTree>
    <p:extLst>
      <p:ext uri="{BB962C8B-B14F-4D97-AF65-F5344CB8AC3E}">
        <p14:creationId xmlns:p14="http://schemas.microsoft.com/office/powerpoint/2010/main" val="1711275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CD36AE-2DA2-448C-82A5-3E3CE1E41F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AA82F-2F02-4F57-9D10-7864BED9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9815F-66DE-4674-BBD8-8A71F912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-171450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263D2-FE33-43B4-8228-882EBEF3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D13D8-E6D2-473C-80B7-827D52F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3810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58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C0173-AF99-476F-A7A3-ED3549D6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745"/>
                </a:solidFill>
              </a:defRPr>
            </a:pPr>
            <a:r>
              <a:rPr sz="1500" b="1">
                <a:solidFill>
                  <a:srgbClr val="315745"/>
                </a:solidFill>
              </a:rPr>
              <a:t>02 / 注目したこと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F2984-7E81-4586-A92E-917CF6CF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3400"/>
            <a:ext cx="857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8A198"/>
                </a:solidFill>
              </a:defRPr>
            </a:pPr>
            <a:r>
              <a:rPr sz="1950" b="1">
                <a:solidFill>
                  <a:srgbClr val="A8A19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160DC-79C1-457D-8CB1-2D079264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81450"/>
            <a:ext cx="2095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ECF"/>
          </a:solidFill>
          <a:ln xmlns:a="http://schemas.openxmlformats.org/drawingml/2006/main" w="9525">
            <a:solidFill>
              <a:srgbClr val="D7C9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97536-DF2F-47D5-AFFA-18F881D9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33850"/>
            <a:ext cx="133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0A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CAA73-36A5-4812-B7A5-8744E0CD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552950"/>
            <a:ext cx="495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3C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2166D-73C0-4118-946C-1A7B42E2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190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8F4"/>
          </a:solidFill>
          <a:ln xmlns:a="http://schemas.openxmlformats.org/drawingml/2006/main" w="9525">
            <a:solidFill>
              <a:srgbClr val="D9CF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75BBC-9AFF-4EF9-A7B3-080D928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9CF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03089-DDAA-4D31-8ACB-96DFC504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05250"/>
            <a:ext cx="190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8F4"/>
          </a:solidFill>
          <a:ln xmlns:a="http://schemas.openxmlformats.org/drawingml/2006/main" w="9525">
            <a:solidFill>
              <a:srgbClr val="D9CF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DD136-703C-4E0D-8CB6-E4EDF150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9CF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C89FE-8FDD-4FE9-8BF7-4B9F21A8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878" y="2381250"/>
            <a:ext cx="343853" cy="380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E84E3-29D5-4608-B4A3-328E01A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3" y="2308860"/>
            <a:ext cx="416242" cy="2171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647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1AD30-3E8F-4F8F-8FAA-10D624F3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511" y="2725103"/>
            <a:ext cx="108585" cy="1085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08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AAAAD-7982-4B6C-A851-E1D79744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97493"/>
            <a:ext cx="669608" cy="778193"/>
          </a:xfrm>
          <a:prstGeom xmlns:a="http://schemas.openxmlformats.org/drawingml/2006/main" prst="roundRect">
            <a:avLst>
              <a:gd name="adj" fmla="val 11380"/>
            </a:avLst>
          </a:prstGeom>
          <a:solidFill xmlns:a="http://schemas.openxmlformats.org/drawingml/2006/main">
            <a:srgbClr val="DDE9DE"/>
          </a:solidFill>
          <a:ln xmlns:a="http://schemas.openxmlformats.org/drawingml/2006/main" w="9525">
            <a:solidFill>
              <a:srgbClr val="C7D7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0DF20-5B3B-4F9A-98E9-132A6FCE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610" y="2906078"/>
            <a:ext cx="162877" cy="488633"/>
          </a:xfrm>
          <a:prstGeom xmlns:a="http://schemas.openxmlformats.org/drawingml/2006/main" prst="roundRect">
            <a:avLst>
              <a:gd name="adj" fmla="val 46784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9EB69-D091-4D5F-BF92-2402DE84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2906078"/>
            <a:ext cx="162877" cy="488633"/>
          </a:xfrm>
          <a:prstGeom xmlns:a="http://schemas.openxmlformats.org/drawingml/2006/main" prst="roundRect">
            <a:avLst>
              <a:gd name="adj" fmla="val 46784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B8677-2EE0-42A2-A00C-4D8A7E87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828" y="2381250"/>
            <a:ext cx="343853" cy="380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4AF5E-B06B-4FE3-971C-FB098230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33" y="2308860"/>
            <a:ext cx="416242" cy="2171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3D3BA7-09B7-456C-BAD1-0E36F82F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461" y="2725103"/>
            <a:ext cx="108585" cy="1085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08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BAF57-FA5C-462B-A1B8-A64455C4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97493"/>
            <a:ext cx="669608" cy="778193"/>
          </a:xfrm>
          <a:prstGeom xmlns:a="http://schemas.openxmlformats.org/drawingml/2006/main" prst="roundRect">
            <a:avLst>
              <a:gd name="adj" fmla="val 11380"/>
            </a:avLst>
          </a:prstGeom>
          <a:solidFill xmlns:a="http://schemas.openxmlformats.org/drawingml/2006/main">
            <a:srgbClr val="F4D7BC"/>
          </a:solidFill>
          <a:ln xmlns:a="http://schemas.openxmlformats.org/drawingml/2006/main" w="9525">
            <a:solidFill>
              <a:srgbClr val="E8C3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16E46C-872F-4D6F-AAA5-D708FADC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2906078"/>
            <a:ext cx="162877" cy="488633"/>
          </a:xfrm>
          <a:prstGeom xmlns:a="http://schemas.openxmlformats.org/drawingml/2006/main" prst="roundRect">
            <a:avLst>
              <a:gd name="adj" fmla="val 46784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6C26BA-EB5B-4FB0-B826-C70C6C5A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070" y="2906078"/>
            <a:ext cx="162877" cy="488633"/>
          </a:xfrm>
          <a:prstGeom xmlns:a="http://schemas.openxmlformats.org/drawingml/2006/main" prst="roundRect">
            <a:avLst>
              <a:gd name="adj" fmla="val 46784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9804EB-E1E8-4F64-8AEC-4D8291D6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66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>
                <a:alpha val="53333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745"/>
                </a:solidFill>
              </a:defRPr>
            </a:pPr>
            <a:r>
              <a:rPr sz="1575" b="1">
                <a:solidFill>
                  <a:srgbClr val="315745"/>
                </a:solidFill>
              </a:rPr>
              <a:t>ありがとう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4F67A5-DDBF-4306-9CDF-2D3A0D77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D18EA-766E-465E-96C3-4F02AD20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5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DDD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288727-6CA5-4D46-9CD4-85C0CDBC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66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934330-CE3B-404B-BC8B-4370CFB3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8750"/>
            <a:ext cx="619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日本人は、</a:t>
            </a:r>
          </a:p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感謝を思っていても</a:t>
            </a:r>
          </a:p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口に出すのが苦手だ。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05A534-385B-4DB8-B04A-597DA8C9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561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39A3AF-897F-4EE1-AEB2-43324D08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58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BF2080-DD6F-4435-A7DB-78EEEA83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69"/>
                </a:solidFill>
              </a:defRPr>
            </a:pPr>
            <a:r>
              <a:rPr sz="1350" b="1">
                <a:solidFill>
                  <a:srgbClr val="667069"/>
                </a:solidFill>
              </a:rPr>
              <a:t>・ ありがとうと思っても、わざわざ言うのは照れくさい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54FFF2-4627-42EB-80CC-A59C6C13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</a:defRPr>
            </a:pPr>
            <a:r>
              <a:rPr sz="1350" b="0">
                <a:solidFill>
                  <a:srgbClr val="667069"/>
                </a:solidFill>
              </a:rPr>
              <a:t>・ 知らない人に話しかけるのは心理的に重い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98B5D3-91C6-4F2A-8491-E813A417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</a:defRPr>
            </a:pPr>
            <a:r>
              <a:rPr sz="1350" b="0">
                <a:solidFill>
                  <a:srgbClr val="667069"/>
                </a:solidFill>
              </a:rPr>
              <a:t>・ 感謝がないのではなく、表現コストが高い</a:t>
            </a:r>
          </a:p>
        </p:txBody>
      </p:sp>
    </p:spTree>
    <p:extLst>
      <p:ext uri="{BB962C8B-B14F-4D97-AF65-F5344CB8AC3E}">
        <p14:creationId xmlns:p14="http://schemas.microsoft.com/office/powerpoint/2010/main" val="555958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CD36AE-2DA2-448C-82A5-3E3CE1E41F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67E68-C97B-4605-8DB4-49035BAF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B5785-E549-4AB0-9CFB-601826B6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-171450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21EBA-946B-4E35-9E7A-A162BD4F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A188C-D1D9-4FB2-843D-DE114B92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3810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58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A59CB-DD4F-4925-9ABF-56D1E301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745"/>
                </a:solidFill>
              </a:defRPr>
            </a:pPr>
            <a:r>
              <a:rPr sz="1500" b="1">
                <a:solidFill>
                  <a:srgbClr val="315745"/>
                </a:solidFill>
              </a:rPr>
              <a:t>03 / 本質的な課題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89C3B-C239-42C7-A029-13B80EEC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3400"/>
            <a:ext cx="857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8A198"/>
                </a:solidFill>
              </a:defRPr>
            </a:pPr>
            <a:r>
              <a:rPr sz="1950" b="1">
                <a:solidFill>
                  <a:srgbClr val="A8A198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E2908-6859-4EB5-8D2E-0F8AAEFA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3086100"/>
            <a:ext cx="332994" cy="3680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9473F-165A-4380-A199-830CE7B1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332" y="3015996"/>
            <a:ext cx="403098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647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F5D98-3C91-4D53-8502-6E63AC5E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303" y="341909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08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C5436-9794-4BAA-9300-7E71FDD4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89198"/>
            <a:ext cx="648462" cy="753618"/>
          </a:xfrm>
          <a:prstGeom xmlns:a="http://schemas.openxmlformats.org/drawingml/2006/main" prst="roundRect">
            <a:avLst>
              <a:gd name="adj" fmla="val 1175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CBDC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CF52D-1A2E-4483-ACDA-C19BAE6C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546" y="3594354"/>
            <a:ext cx="157734" cy="473202"/>
          </a:xfrm>
          <a:prstGeom xmlns:a="http://schemas.openxmlformats.org/drawingml/2006/main" prst="roundRect">
            <a:avLst>
              <a:gd name="adj" fmla="val 48309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959EC-E04A-4D2A-ADFC-A71798C1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482" y="3594354"/>
            <a:ext cx="157734" cy="473202"/>
          </a:xfrm>
          <a:prstGeom xmlns:a="http://schemas.openxmlformats.org/drawingml/2006/main" prst="roundRect">
            <a:avLst>
              <a:gd name="adj" fmla="val 48309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C419C-F933-49AB-8126-4240575A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5A043-51AC-4412-A746-B183C88B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745"/>
                </a:solidFill>
              </a:defRPr>
            </a:pPr>
            <a:r>
              <a:rPr sz="1350" b="1">
                <a:solidFill>
                  <a:srgbClr val="315745"/>
                </a:solidFill>
              </a:rPr>
              <a:t>静かで助かった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5A78C-7065-47CB-93C0-4C993620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2324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0E53D-E68D-4B5B-9841-979A860A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1981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745"/>
                </a:solidFill>
              </a:defRPr>
            </a:pPr>
            <a:r>
              <a:rPr sz="1350" b="1">
                <a:solidFill>
                  <a:srgbClr val="315745"/>
                </a:solidFill>
              </a:rPr>
              <a:t>席を譲ってくれた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7E968-0435-4877-91AC-12D60201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85412-89E6-4028-984E-DBB5753B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745"/>
                </a:solidFill>
              </a:defRPr>
            </a:pPr>
            <a:r>
              <a:rPr sz="1350" b="1">
                <a:solidFill>
                  <a:srgbClr val="315745"/>
                </a:solidFill>
              </a:rPr>
              <a:t>居心地がよかった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F6414-3D79-4EB4-BDA2-B6786801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4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438CC-DF14-4E0A-A7EE-3C3FFBA7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876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DF7"/>
                </a:solidFill>
              </a:defRPr>
            </a:pPr>
            <a:r>
              <a:rPr sz="3600" b="1">
                <a:solidFill>
                  <a:srgbClr val="FFFDF7"/>
                </a:solidFill>
              </a:rPr>
              <a:t>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F669F-2DEA-40B7-989F-C95D7B6E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8750"/>
            <a:ext cx="619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優しさはある。</a:t>
            </a:r>
          </a:p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でも、出し方がない。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A8C88F-99EE-4DBF-AA0D-294AA757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561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4551C1-4E62-4FD3-9B45-2A3FDF58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58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4793D-F115-4439-90BC-C4094FB6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69"/>
                </a:solidFill>
              </a:defRPr>
            </a:pPr>
            <a:r>
              <a:rPr sz="1350" b="1">
                <a:solidFill>
                  <a:srgbClr val="667069"/>
                </a:solidFill>
              </a:rPr>
              <a:t>・ 静かにしてくれて助かった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A0A4F-C092-4727-8DA8-0DA94BB5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</a:defRPr>
            </a:pPr>
            <a:r>
              <a:rPr sz="1350" b="0">
                <a:solidFill>
                  <a:srgbClr val="667069"/>
                </a:solidFill>
              </a:rPr>
              <a:t>・ 席を譲ってくれてありがたかった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DBA242-B743-4A89-8CF2-B60316CE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</a:defRPr>
            </a:pPr>
            <a:r>
              <a:rPr sz="1350" b="0">
                <a:solidFill>
                  <a:srgbClr val="667069"/>
                </a:solidFill>
              </a:rPr>
              <a:t>・ でもその気持ちは、言葉にならず消えていく</a:t>
            </a:r>
          </a:p>
        </p:txBody>
      </p:sp>
    </p:spTree>
    <p:extLst>
      <p:ext uri="{BB962C8B-B14F-4D97-AF65-F5344CB8AC3E}">
        <p14:creationId xmlns:p14="http://schemas.microsoft.com/office/powerpoint/2010/main" val="1486737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CD36AE-2DA2-448C-82A5-3E3CE1E41F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39749-91E4-43CF-8C58-6C4A68B2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528AA-A864-4448-B494-DDEF1FD1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-171450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0DB34-C447-4852-8F09-3BAFFC1E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D91C4-3C2E-4120-8A06-B0D2FE16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3810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58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35A7A-C610-4B74-A9B8-ABABCB99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745"/>
                </a:solidFill>
              </a:defRPr>
            </a:pPr>
            <a:r>
              <a:rPr sz="1500" b="1">
                <a:solidFill>
                  <a:srgbClr val="315745"/>
                </a:solidFill>
              </a:rPr>
              <a:t>04 / 提案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573FF-24A5-4128-A29B-AEB30D7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3400"/>
            <a:ext cx="857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8A198"/>
                </a:solidFill>
              </a:defRPr>
            </a:pPr>
            <a:r>
              <a:rPr sz="1950" b="1">
                <a:solidFill>
                  <a:srgbClr val="A8A198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27643-5BA1-4446-834C-980BCA4D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678" y="2552700"/>
            <a:ext cx="343853" cy="380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1A198-947D-4524-8D9A-2DE91036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483" y="2480310"/>
            <a:ext cx="416242" cy="2171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647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6F2D9-4C9D-4233-B87A-A9AA8F66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311" y="2896553"/>
            <a:ext cx="108585" cy="1085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08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E37FB-4369-4C3E-A945-8C53A971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68943"/>
            <a:ext cx="669608" cy="778193"/>
          </a:xfrm>
          <a:prstGeom xmlns:a="http://schemas.openxmlformats.org/drawingml/2006/main" prst="roundRect">
            <a:avLst>
              <a:gd name="adj" fmla="val 11380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CBDC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86853-0EC9-4A42-AB13-B671F12A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3077528"/>
            <a:ext cx="162877" cy="488633"/>
          </a:xfrm>
          <a:prstGeom xmlns:a="http://schemas.openxmlformats.org/drawingml/2006/main" prst="roundRect">
            <a:avLst>
              <a:gd name="adj" fmla="val 46784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7D76A-215E-4196-AA44-D95C464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3077528"/>
            <a:ext cx="162877" cy="488633"/>
          </a:xfrm>
          <a:prstGeom xmlns:a="http://schemas.openxmlformats.org/drawingml/2006/main" prst="roundRect">
            <a:avLst>
              <a:gd name="adj" fmla="val 46784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19FB4-AD75-4A9F-94C9-84C38969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00"/>
            <a:ext cx="323850" cy="5524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4A50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6FE74-10B6-4D43-BB47-7D63BA92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CCB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9F256-4610-45AF-9D92-E707D2F4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95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8C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6B59D-FE6D-4531-BF9B-ECBD5830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05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CE3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148FC-F3AC-4FBA-9EF7-A6702D27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04950"/>
            <a:ext cx="21336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>
              <a:alpha val="84706"/>
            </a:srgbClr>
          </a:solidFill>
          <a:ln xmlns:a="http://schemas.openxmlformats.org/drawingml/2006/main" w="9525">
            <a:solidFill>
              <a:srgbClr val="D9CF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8D5C9-CD4B-48DF-846F-F6F77622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5745"/>
                </a:solidFill>
              </a:defRPr>
            </a:pPr>
            <a:r>
              <a:rPr sz="1800" b="1">
                <a:solidFill>
                  <a:srgbClr val="315745"/>
                </a:solidFill>
              </a:rPr>
              <a:t>Cafe 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2D38E-78C4-4CFD-B99B-5D0389F8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ADF"/>
          </a:solidFill>
          <a:ln xmlns:a="http://schemas.openxmlformats.org/drawingml/2006/main" w="11430">
            <a:solidFill>
              <a:srgbClr val="FFFFFF">
                <a:alpha val="53333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745"/>
                </a:solidFill>
              </a:defRPr>
            </a:pPr>
            <a:r>
              <a:rPr sz="1050" b="1">
                <a:solidFill>
                  <a:srgbClr val="315745"/>
                </a:solidFill>
              </a:rPr>
              <a:t>ありがとう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8E9B7-B06D-4372-A949-2BEC7018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288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FC4"/>
          </a:solidFill>
          <a:ln xmlns:a="http://schemas.openxmlformats.org/drawingml/2006/main" w="11430">
            <a:solidFill>
              <a:srgbClr val="FFFFFF">
                <a:alpha val="53333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522"/>
                </a:solidFill>
              </a:defRPr>
            </a:pPr>
            <a:r>
              <a:rPr sz="1200" b="1">
                <a:solidFill>
                  <a:srgbClr val="1F2522"/>
                </a:solidFill>
              </a:rPr>
              <a:t>居心地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EEB4B-1AE0-424A-B6AD-5446BB56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004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9DC"/>
          </a:solidFill>
          <a:ln xmlns:a="http://schemas.openxmlformats.org/drawingml/2006/main" w="11430">
            <a:solidFill>
              <a:srgbClr val="FFFFFF">
                <a:alpha val="53333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522"/>
                </a:solidFill>
              </a:defRPr>
            </a:pPr>
            <a:r>
              <a:rPr sz="1350" b="1">
                <a:solidFill>
                  <a:srgbClr val="1F2522"/>
                </a:solidFill>
              </a:rPr>
              <a:t>静か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A1F287-86DD-487E-AC01-893FFD70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69"/>
                </a:solidFill>
              </a:defRPr>
            </a:pPr>
            <a:r>
              <a:rPr sz="1275" b="1">
                <a:solidFill>
                  <a:srgbClr val="667069"/>
                </a:solidFill>
              </a:rPr>
              <a:t>匿名 / ワンタップ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C04EF-6534-43FA-A2C6-62FB9036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8750"/>
            <a:ext cx="619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匿名でもいいから、</a:t>
            </a:r>
          </a:p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感謝を空間に</a:t>
            </a:r>
          </a:p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残せるようにする。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5A68A2-A80B-438C-AF01-4A43EA05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561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9AADAF-7438-4E88-B89D-DAD32262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58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229480-D7B6-437C-8490-1DF6CFCA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69"/>
                </a:solidFill>
              </a:defRPr>
            </a:pPr>
            <a:r>
              <a:rPr sz="1350" b="1">
                <a:solidFill>
                  <a:srgbClr val="667069"/>
                </a:solidFill>
              </a:rPr>
              <a:t>・ 個人ではなく、空間にワンタップで反応する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62E886-9C29-453E-B54A-0C652A6F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</a:defRPr>
            </a:pPr>
            <a:r>
              <a:rPr sz="1350" b="0">
                <a:solidFill>
                  <a:srgbClr val="667069"/>
                </a:solidFill>
              </a:rPr>
              <a:t>・ 匿名だから、内気な人でも気持ちを出しやすい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F4A254-9650-4E8B-B052-6C9E8EF9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</a:defRPr>
            </a:pPr>
            <a:r>
              <a:rPr sz="1350" b="0">
                <a:solidFill>
                  <a:srgbClr val="667069"/>
                </a:solidFill>
              </a:rPr>
              <a:t>・ 感謝が場所に残り、次の人にも伝わる</a:t>
            </a:r>
          </a:p>
        </p:txBody>
      </p:sp>
    </p:spTree>
    <p:extLst>
      <p:ext uri="{BB962C8B-B14F-4D97-AF65-F5344CB8AC3E}">
        <p14:creationId xmlns:p14="http://schemas.microsoft.com/office/powerpoint/2010/main" val="1243914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CD36AE-2DA2-448C-82A5-3E3CE1E41F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02713-A50A-4DCA-BB9F-CE114A82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6086A-2FA7-45E6-AFBB-A4582F04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-171450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E5709-C7FF-4A6A-B75B-1CE7C67B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DE6A6-57CE-4E3E-B2BE-9DC45CFF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3810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58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E6E85-E682-4D73-8F4A-A54ECC2A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745"/>
                </a:solidFill>
              </a:defRPr>
            </a:pPr>
            <a:r>
              <a:rPr sz="1500" b="1">
                <a:solidFill>
                  <a:srgbClr val="315745"/>
                </a:solidFill>
              </a:rPr>
              <a:t>05 / 目指す世界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1BA6D-6EAE-48F6-9C51-D14A7B66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3400"/>
            <a:ext cx="857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8A198"/>
                </a:solidFill>
              </a:defRPr>
            </a:pPr>
            <a:r>
              <a:rPr sz="1950" b="1">
                <a:solidFill>
                  <a:srgbClr val="A8A198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C00F0-3614-4DE3-956A-C96312A6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24003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ECF"/>
          </a:solidFill>
          <a:ln xmlns:a="http://schemas.openxmlformats.org/drawingml/2006/main" w="9525">
            <a:solidFill>
              <a:srgbClr val="D7C9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85DE5-E473-447D-829E-6FE44016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343400"/>
            <a:ext cx="133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0A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0BEC6-06C0-4192-BA17-0494C695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495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3C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A6756-EA39-49C7-B029-1046ABD9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90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8F4"/>
          </a:solidFill>
          <a:ln xmlns:a="http://schemas.openxmlformats.org/drawingml/2006/main" w="9525">
            <a:solidFill>
              <a:srgbClr val="D9CF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DCC2B-07E7-4D07-B176-40B969E5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9CF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52A87-78AC-496E-9DD3-EC53E850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95750"/>
            <a:ext cx="190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8F4"/>
          </a:solidFill>
          <a:ln xmlns:a="http://schemas.openxmlformats.org/drawingml/2006/main" w="9525">
            <a:solidFill>
              <a:srgbClr val="D9CF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482F8-EF95-4247-B37B-297BB89A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9CF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8BA3E-FBEC-4167-B869-15A5BCD6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755" y="2590800"/>
            <a:ext cx="325755" cy="360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3B4AB-3B64-40A6-B6A1-7AAAB4CA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465" y="2522220"/>
            <a:ext cx="394335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647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CAE47-C880-4BBE-ABB9-4B5F63DB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198" y="2916555"/>
            <a:ext cx="102870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08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92EC1-6340-484C-B01C-3A205E45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85135"/>
            <a:ext cx="634365" cy="737235"/>
          </a:xfrm>
          <a:prstGeom xmlns:a="http://schemas.openxmlformats.org/drawingml/2006/main" prst="roundRect">
            <a:avLst>
              <a:gd name="adj" fmla="val 12012"/>
            </a:avLst>
          </a:prstGeom>
          <a:solidFill xmlns:a="http://schemas.openxmlformats.org/drawingml/2006/main">
            <a:srgbClr val="E0ECE1"/>
          </a:solidFill>
          <a:ln xmlns:a="http://schemas.openxmlformats.org/drawingml/2006/main" w="9525">
            <a:solidFill>
              <a:srgbClr val="C6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0D6F8-6217-488A-9EDA-8DAEE49C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870" y="3088005"/>
            <a:ext cx="154305" cy="462915"/>
          </a:xfrm>
          <a:prstGeom xmlns:a="http://schemas.openxmlformats.org/drawingml/2006/main" prst="roundRect">
            <a:avLst>
              <a:gd name="adj" fmla="val 49383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70856-8FA5-44A2-B75E-A3ADA588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90" y="3088005"/>
            <a:ext cx="154305" cy="462915"/>
          </a:xfrm>
          <a:prstGeom xmlns:a="http://schemas.openxmlformats.org/drawingml/2006/main" prst="roundRect">
            <a:avLst>
              <a:gd name="adj" fmla="val 49383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2F484-46CB-4EA4-9899-DB239464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321" y="2266950"/>
            <a:ext cx="354711" cy="392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A5208-0B15-488F-BB7C-45E3ACFE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983" y="2192274"/>
            <a:ext cx="429387" cy="224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B41745-3C86-4909-86C8-392E4469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670" y="2621661"/>
            <a:ext cx="112014" cy="1120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08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5F17FA-7B1D-4881-AC39-32EBF29B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96337"/>
            <a:ext cx="690753" cy="802767"/>
          </a:xfrm>
          <a:prstGeom xmlns:a="http://schemas.openxmlformats.org/drawingml/2006/main" prst="roundRect">
            <a:avLst>
              <a:gd name="adj" fmla="val 11031"/>
            </a:avLst>
          </a:prstGeom>
          <a:solidFill xmlns:a="http://schemas.openxmlformats.org/drawingml/2006/main">
            <a:srgbClr val="F5D7BB"/>
          </a:solidFill>
          <a:ln xmlns:a="http://schemas.openxmlformats.org/drawingml/2006/main" w="9525">
            <a:solidFill>
              <a:srgbClr val="E8C3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96AC1-DDA0-464C-9235-02A11B20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624" y="2808351"/>
            <a:ext cx="168021" cy="504063"/>
          </a:xfrm>
          <a:prstGeom xmlns:a="http://schemas.openxmlformats.org/drawingml/2006/main" prst="roundRect">
            <a:avLst>
              <a:gd name="adj" fmla="val 45351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690E2-AB69-400F-A724-AD5A78F7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708" y="2808351"/>
            <a:ext cx="168021" cy="504063"/>
          </a:xfrm>
          <a:prstGeom xmlns:a="http://schemas.openxmlformats.org/drawingml/2006/main" prst="roundRect">
            <a:avLst>
              <a:gd name="adj" fmla="val 45351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26EBB-C848-4734-8C19-32F9D8A0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268" y="2743200"/>
            <a:ext cx="304038" cy="3360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E98E7-30AA-45E1-9C96-FB122247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264" y="2679192"/>
            <a:ext cx="368046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647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D1A25-477E-4A3C-8692-8F0F320E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281" y="3047238"/>
            <a:ext cx="96012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08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F3ECCA-482C-4B96-86E5-68D2715D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11246"/>
            <a:ext cx="592074" cy="688086"/>
          </a:xfrm>
          <a:prstGeom xmlns:a="http://schemas.openxmlformats.org/drawingml/2006/main" prst="roundRect">
            <a:avLst>
              <a:gd name="adj" fmla="val 12870"/>
            </a:avLst>
          </a:prstGeom>
          <a:solidFill xmlns:a="http://schemas.openxmlformats.org/drawingml/2006/main">
            <a:srgbClr val="E9E5DB"/>
          </a:solidFill>
          <a:ln xmlns:a="http://schemas.openxmlformats.org/drawingml/2006/main" w="9525">
            <a:solidFill>
              <a:srgbClr val="D3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3CD570-DEB3-4472-ADC0-0AE723AF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242" y="3207258"/>
            <a:ext cx="144018" cy="43205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404E3F-8A97-40A2-A278-EFF39A3D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314" y="3207258"/>
            <a:ext cx="144018" cy="43205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8A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A9ECAE-A899-4B38-95BC-B21903D3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ADF"/>
          </a:solidFill>
          <a:ln xmlns:a="http://schemas.openxmlformats.org/drawingml/2006/main" w="11430">
            <a:solidFill>
              <a:srgbClr val="FFFFFF">
                <a:alpha val="53333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745"/>
                </a:solidFill>
              </a:defRPr>
            </a:pPr>
            <a:r>
              <a:rPr sz="1350" b="1">
                <a:solidFill>
                  <a:srgbClr val="315745"/>
                </a:solidFill>
              </a:rPr>
              <a:t>ありがとう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917CB0-066F-4E69-B31C-342D2259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335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AF"/>
          </a:solidFill>
          <a:ln xmlns:a="http://schemas.openxmlformats.org/drawingml/2006/main" w="11430">
            <a:solidFill>
              <a:srgbClr val="FFFFFF">
                <a:alpha val="53333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522"/>
                </a:solidFill>
              </a:defRPr>
            </a:pPr>
            <a:r>
              <a:rPr sz="1425" b="1">
                <a:solidFill>
                  <a:srgbClr val="1F2522"/>
                </a:solidFill>
              </a:rPr>
              <a:t>やさしい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2126D3-2292-4440-B82E-09B2E75B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7660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>
                <a:alpha val="53333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522"/>
                </a:solidFill>
              </a:defRPr>
            </a:pPr>
            <a:r>
              <a:rPr sz="1425" b="1">
                <a:solidFill>
                  <a:srgbClr val="1F2522"/>
                </a:solidFill>
              </a:rPr>
              <a:t>居心地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8D94AE-28AE-49C5-A2BA-B886AB13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ADF">
              <a:alpha val="4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17A2CE-6476-40A4-9B50-397CEEA1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8750"/>
            <a:ext cx="619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内気なままでも、</a:t>
            </a:r>
          </a:p>
          <a:p xmlns:a="http://schemas.openxmlformats.org/drawingml/2006/main">
            <a:pPr algn="l">
              <a:defRPr sz="3900" b="1">
                <a:solidFill>
                  <a:srgbClr val="1F2522"/>
                </a:solidFill>
              </a:defRPr>
            </a:pPr>
            <a:r>
              <a:rPr sz="3900" b="1">
                <a:solidFill>
                  <a:srgbClr val="1F2522"/>
                </a:solidFill>
              </a:rPr>
              <a:t>優しさは伝えられる。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465BB7-1C39-4367-AA1C-494E0701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90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93B0A3-CB50-43FE-8F69-CF7B4C1D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58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8E3826-9063-47A6-AC5B-2BA8DC21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69"/>
                </a:solidFill>
              </a:defRPr>
            </a:pPr>
            <a:r>
              <a:rPr sz="1350" b="1">
                <a:solidFill>
                  <a:srgbClr val="667069"/>
                </a:solidFill>
              </a:rPr>
              <a:t>・ 性格を無理に変えなくていい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8461E5-31AD-4AFC-9B2E-66BEBEDD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</a:defRPr>
            </a:pPr>
            <a:r>
              <a:rPr sz="1350" b="0">
                <a:solidFill>
                  <a:srgbClr val="667069"/>
                </a:solidFill>
              </a:rPr>
              <a:t>・ 話しかけなくても、優しさは見える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5BE5C4-30F2-445B-9868-9D9CDCC3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</a:defRPr>
            </a:pPr>
            <a:r>
              <a:rPr sz="1350" b="0">
                <a:solidFill>
                  <a:srgbClr val="667069"/>
                </a:solidFill>
              </a:rPr>
              <a:t>・ 空間を介して、場が少しあたたかくなる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FD1A38-81F2-4B32-A024-719CBBBD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666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E4D9C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E60051-B72B-4ACD-8D5E-65CBF2AD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38775"/>
            <a:ext cx="617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5745"/>
                </a:solidFill>
              </a:defRPr>
            </a:pPr>
            <a:r>
              <a:rPr sz="1800" b="1">
                <a:solidFill>
                  <a:srgbClr val="315745"/>
                </a:solidFill>
              </a:rPr>
              <a:t>人は冷たいのではない。優しさを出す方法がないだけだ。</a:t>
            </a:r>
          </a:p>
        </p:txBody>
      </p:sp>
    </p:spTree>
    <p:extLst>
      <p:ext uri="{BB962C8B-B14F-4D97-AF65-F5344CB8AC3E}">
        <p14:creationId xmlns:p14="http://schemas.microsoft.com/office/powerpoint/2010/main" val="1858931448"/>
      </p:ext>
    </p:extLst>
  </p:cSld>
</p:sld>
</file>

<file path=ppt/theme/theme1.xml><?xml version="1.0" encoding="utf-8"?>
<a:theme xmlns:a="http://schemas.openxmlformats.org/drawingml/2006/main" name="Cafe Kindness">
  <a:themeElements>
    <a:clrScheme name="Cafe Kindness">
      <a:accent1>
        <a:srgbClr val="7EA58A"/>
      </a:accent1>
      <a:accent2>
        <a:srgbClr val="D9824B"/>
      </a:accent2>
      <a:accent3>
        <a:srgbClr val="F2C79E"/>
      </a:accent3>
      <a:accent4>
        <a:srgbClr val="315745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fe Kindnes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2026-04-24T01:20:26.5780000Z</dcterms:created>
  <dcterms:modified xsi:type="dcterms:W3CDTF">2026-04-24T01:20:26.5780000Z</dcterms:modified>
</coreProperties>
</file>